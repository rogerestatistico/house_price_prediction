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C7293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"/>
              </a:defRPr>
            </a:pPr>
            <a:r>
              <a:t>Previsao de Precos de Imoveis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31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0E0EF"/>
                </a:solidFill>
                <a:latin typeface="Arial"/>
              </a:defRPr>
            </a:pPr>
            <a:r>
              <a:t>Seattle, WA - Desafio de Data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DE8F4"/>
                </a:solidFill>
                <a:latin typeface="Arial"/>
              </a:defRPr>
            </a:pPr>
            <a:r>
              <a:t>End-to-End: EDA -&gt; Feature Engineering -&gt; XGBoost -&gt; Deploy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5321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R2 = 0.91  |  MAE = .127  |  MAPE = 11.6%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807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DE8F4"/>
                </a:solidFill>
                <a:latin typeface="Arial"/>
              </a:defRPr>
            </a:pPr>
            <a:r>
              <a:t>21.613 imoveis  70 zipcodes  36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</a:defRPr>
            </a:pPr>
            <a:r>
              <a:t>EDA 01  Media vs Mediana - Distribuicao e Assimetria</a:t>
            </a:r>
          </a:p>
        </p:txBody>
      </p:sp>
      <p:pic>
        <p:nvPicPr>
          <p:cNvPr id="5" name="Picture 4" descr="eda_a_mean_vs_med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8046720" cy="5577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49640" y="1005840"/>
            <a:ext cx="3337560" cy="5577840"/>
          </a:xfrm>
          <a:prstGeom prst="rect">
            <a:avLst/>
          </a:prstGeom>
          <a:solidFill>
            <a:srgbClr val="E8F4F8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1430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C7293"/>
                </a:solidFill>
                <a:latin typeface="Arial"/>
              </a:defRPr>
            </a:pPr>
            <a:r>
              <a:t>Por que importa?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64592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Arial"/>
              </a:defRPr>
            </a:pPr>
            <a:r>
              <a:t>Quando media &gt; mediana a distribuicao e assimetrica a direita (cauda longa).</a:t>
            </a:r>
            <a:br/>
            <a:br/>
            <a:r>
              <a:t>Isso indica outliers de alto valor que puxam a media para cima.</a:t>
            </a:r>
            <a:br/>
            <a:br/>
            <a:r>
              <a:t>Usar mediana e mais robusto para comunicar ao negocio o preco tipico.</a:t>
            </a:r>
            <a:br/>
            <a:br/>
            <a:r>
              <a:t>No modelo: aplicamos log1p(price) para normalizar essa assimetria.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</a:defRPr>
            </a:pPr>
            <a:r>
              <a:t>EDA 02  Resumo Estatistico - Media, Mediana e Assimetria</a:t>
            </a:r>
          </a:p>
        </p:txBody>
      </p:sp>
      <p:pic>
        <p:nvPicPr>
          <p:cNvPr id="5" name="Picture 4" descr="eda_b_stat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74903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92040"/>
            <a:ext cx="3566160" cy="1737360"/>
          </a:xfrm>
          <a:prstGeom prst="rect">
            <a:avLst/>
          </a:prstGeom>
          <a:solidFill>
            <a:srgbClr val="FFECB3"/>
          </a:solidFill>
          <a:ln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0" y="4892040"/>
            <a:ext cx="3566160" cy="1737360"/>
          </a:xfrm>
          <a:prstGeom prst="rect">
            <a:avLst/>
          </a:prstGeom>
          <a:solidFill>
            <a:srgbClr val="E8F4F8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63840" y="4892040"/>
            <a:ext cx="4023360" cy="1737360"/>
          </a:xfrm>
          <a:prstGeom prst="rect">
            <a:avLst/>
          </a:prstGeom>
          <a:solidFill>
            <a:srgbClr val="E8F5E9"/>
          </a:solidFill>
          <a:ln>
            <a:solidFill>
              <a:srgbClr val="388E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4919472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65100"/>
                </a:solidFill>
                <a:latin typeface="Arial"/>
              </a:defRPr>
            </a:pPr>
            <a:r>
              <a:t>Assimetria Alta (skew &gt; 1.0)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39496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0D1B2A"/>
                </a:solidFill>
                <a:latin typeface="Arial"/>
              </a:defRPr>
            </a:pPr>
            <a:r>
              <a:t>price, sqft_lot</a:t>
            </a:r>
            <a:br/>
            <a:r>
              <a:t>Outliers de luxo puxam a media.</a:t>
            </a:r>
            <a:br/>
            <a:r>
              <a:t>Mediana e mais representativa.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4919472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C7293"/>
                </a:solidFill>
                <a:latin typeface="Arial"/>
              </a:defRPr>
            </a:pPr>
            <a:r>
              <a:t>Assimetria Moderada (0.5-1.0)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539496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0D1B2A"/>
                </a:solidFill>
                <a:latin typeface="Arial"/>
              </a:defRPr>
            </a:pPr>
            <a:r>
              <a:t>sqft_living, bathrooms</a:t>
            </a:r>
            <a:br/>
            <a:r>
              <a:t>Alongamento leve.</a:t>
            </a:r>
            <a:br/>
            <a:r>
              <a:t>Ambas as metricas uteis.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919472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7D32"/>
                </a:solidFill>
                <a:latin typeface="Arial"/>
              </a:defRPr>
            </a:pPr>
            <a:r>
              <a:t>Distribuicao Simetrica (&lt;=0.5)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539496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0D1B2A"/>
                </a:solidFill>
                <a:latin typeface="Arial"/>
              </a:defRPr>
            </a:pPr>
            <a:r>
              <a:t>grade, yr_built, bedrooms</a:t>
            </a:r>
            <a:br/>
            <a:r>
              <a:t>Media aprox. Mediana.</a:t>
            </a:r>
            <a:br/>
            <a:r>
              <a:t>Sem distorcao por outliers.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</a:defRPr>
            </a:pPr>
            <a:r>
              <a:t>EDA 03  Matriz de Colinearidade entre Features</a:t>
            </a:r>
          </a:p>
        </p:txBody>
      </p:sp>
      <p:pic>
        <p:nvPicPr>
          <p:cNvPr id="5" name="Picture 4" descr="eda_c_col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8686800" cy="5577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89720" y="1005840"/>
            <a:ext cx="2743200" cy="5577840"/>
          </a:xfrm>
          <a:prstGeom prst="rect">
            <a:avLst/>
          </a:prstGeom>
          <a:solidFill>
            <a:srgbClr val="FFF8E1"/>
          </a:solidFill>
          <a:ln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0" y="11430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5100"/>
                </a:solidFill>
                <a:latin typeface="Arial"/>
              </a:defRPr>
            </a:pPr>
            <a:r>
              <a:t>Pares colineares: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645920"/>
            <a:ext cx="2468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0D1B2A"/>
                </a:solidFill>
                <a:latin typeface="Arial"/>
              </a:defRPr>
            </a:pPr>
            <a:r>
              <a:t>sqft_living x sqft_above</a:t>
            </a:r>
            <a:br/>
            <a:r>
              <a:t>r = 0.88</a:t>
            </a:r>
            <a:br/>
            <a:br/>
            <a:r>
              <a:t>sqft_living x sqft_living15</a:t>
            </a:r>
            <a:br/>
            <a:r>
              <a:t>r = 0.76</a:t>
            </a:r>
            <a:br/>
            <a:br/>
            <a:r>
              <a:t>bathrooms x sqft_living</a:t>
            </a:r>
            <a:br/>
            <a:r>
              <a:t>r = 0.75</a:t>
            </a:r>
            <a:br/>
            <a:br/>
            <a:r>
              <a:t>hous_val_amt x renda</a:t>
            </a:r>
            <a:br/>
            <a:r>
              <a:t>r = 0.73</a:t>
            </a:r>
            <a:br/>
            <a:br/>
            <a:r>
              <a:t>Como tratamos:</a:t>
            </a:r>
            <a:br/>
            <a:r>
              <a:t>XGBoost e robusto a colinearidade. Features redundantes mantidas pois aumentam R2. VIF calculado para confirmar.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</a:defRPr>
            </a:pPr>
            <a:r>
              <a:t>EDA 04  Analise de Colinearidade - VIF e Pares Criticos</a:t>
            </a:r>
          </a:p>
        </p:txBody>
      </p:sp>
      <p:pic>
        <p:nvPicPr>
          <p:cNvPr id="5" name="Picture 4" descr="eda_d_v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97763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120640"/>
            <a:ext cx="3657600" cy="1554480"/>
          </a:xfrm>
          <a:prstGeom prst="rect">
            <a:avLst/>
          </a:prstGeom>
          <a:solidFill>
            <a:srgbClr val="FFEBEE"/>
          </a:solidFill>
          <a:ln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51960" y="5120640"/>
            <a:ext cx="3657600" cy="1554480"/>
          </a:xfrm>
          <a:prstGeom prst="rect">
            <a:avLst/>
          </a:prstGeom>
          <a:solidFill>
            <a:srgbClr val="FFF8E1"/>
          </a:solidFill>
          <a:ln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38160" y="5120640"/>
            <a:ext cx="3749039" cy="1554480"/>
          </a:xfrm>
          <a:prstGeom prst="rect">
            <a:avLst/>
          </a:prstGeom>
          <a:solidFill>
            <a:srgbClr val="E8F5E9"/>
          </a:solidFill>
          <a:ln>
            <a:solidFill>
              <a:srgbClr val="388E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514807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C0392B"/>
                </a:solidFill>
                <a:latin typeface="Arial"/>
              </a:defRPr>
            </a:pPr>
            <a:r>
              <a:t>VIF &gt; 10 - Alta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559552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D1B2A"/>
                </a:solidFill>
                <a:latin typeface="Arial"/>
              </a:defRPr>
            </a:pPr>
            <a:r>
              <a:t>sqft_above, sqft_living</a:t>
            </a:r>
            <a:br/>
            <a:r>
              <a:t>Colineares. XGBoost as mantem pois capturam aspectos distintos.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514807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65100"/>
                </a:solidFill>
                <a:latin typeface="Arial"/>
              </a:defRPr>
            </a:pPr>
            <a:r>
              <a:t>VIF 5-10 - Moderada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5559552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D1B2A"/>
                </a:solidFill>
                <a:latin typeface="Arial"/>
              </a:defRPr>
            </a:pPr>
            <a:r>
              <a:t>bathrooms, sqft_living15</a:t>
            </a:r>
            <a:br/>
            <a:r>
              <a:t>Colinearidade aceitavel. Mantidas por correlacao com preco.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5148072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7D32"/>
                </a:solidFill>
                <a:latin typeface="Arial"/>
              </a:defRPr>
            </a:pPr>
            <a:r>
              <a:t>VIF &lt; 5 - Baixa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5559552"/>
            <a:ext cx="37490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D1B2A"/>
                </a:solidFill>
                <a:latin typeface="Arial"/>
              </a:defRPr>
            </a:pPr>
            <a:r>
              <a:t>grade, yr_built, bedrooms</a:t>
            </a:r>
            <a:br/>
            <a:r>
              <a:t>Features independentes. Priorizadas no modelo final.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887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</a:defRPr>
            </a:pPr>
            <a:r>
              <a:t>EDA 05  Correlacao &amp; Criterio de Selecao de Features</a:t>
            </a:r>
          </a:p>
        </p:txBody>
      </p:sp>
      <p:pic>
        <p:nvPicPr>
          <p:cNvPr id="5" name="Picture 4" descr="eda_e_feature_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498079" cy="5577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55279" y="1005840"/>
            <a:ext cx="3931920" cy="5577840"/>
          </a:xfrm>
          <a:prstGeom prst="rect">
            <a:avLst/>
          </a:prstGeom>
          <a:solidFill>
            <a:srgbClr val="E8F4F8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92440" y="11430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C7293"/>
                </a:solidFill>
                <a:latin typeface="Arial"/>
              </a:defRPr>
            </a:pPr>
            <a:r>
              <a:t>Criterio de selecao: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645920"/>
            <a:ext cx="3657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0D1B2A"/>
                </a:solidFill>
                <a:latin typeface="Arial"/>
              </a:defRPr>
            </a:pPr>
            <a:r>
              <a:t>1. Correlacao |r| &gt; 0.3</a:t>
            </a:r>
            <a:br/>
            <a:r>
              <a:t>   com o preco</a:t>
            </a:r>
            <a:br/>
            <a:br/>
            <a:r>
              <a:t>2. Disponivel no</a:t>
            </a:r>
            <a:br/>
            <a:r>
              <a:t>   dataset futuro</a:t>
            </a:r>
            <a:br/>
            <a:br/>
            <a:r>
              <a:t>3. Sem data leakage</a:t>
            </a:r>
            <a:br/>
            <a:br/>
            <a:r>
              <a:t>4. Contribuicao unica</a:t>
            </a:r>
            <a:br/>
            <a:r>
              <a:t>   (VIF &lt; 10 ou alta</a:t>
            </a:r>
            <a:br/>
            <a:r>
              <a:t>   correl. com target)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4617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C7293"/>
                </a:solidFill>
                <a:latin typeface="Arial"/>
              </a:defRPr>
            </a:pPr>
            <a:r>
              <a:t>Resultado: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5074920"/>
            <a:ext cx="3657600" cy="685800"/>
          </a:xfrm>
          <a:prstGeom prst="rect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507492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18 originais + 10 criadas = 36 features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5897880"/>
            <a:ext cx="3657600" cy="548640"/>
          </a:xfrm>
          <a:prstGeom prst="rect">
            <a:avLst/>
          </a:prstGeom>
          <a:solidFill>
            <a:srgbClr val="E74C3C"/>
          </a:solidFill>
          <a:ln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58978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FFFFFF"/>
                </a:solidFill>
                <a:latin typeface="Arial"/>
              </a:defRPr>
            </a:pPr>
            <a:r>
              <a:t>Descartadas: demogr. com |r| &lt; 0.15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1C7293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0E0EF"/>
                </a:solidFill>
                <a:latin typeface="Arial"/>
              </a:defRPr>
            </a:pPr>
            <a:r>
              <a:t>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Arial"/>
              </a:defRPr>
            </a:pPr>
            <a:r>
              <a:t>Modelagem &amp; Deploy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DE8F4"/>
                </a:solidFill>
                <a:latin typeface="Arial"/>
              </a:defRPr>
            </a:pPr>
            <a:r>
              <a:t>Feature Engineering  XGBoost  Avaliacao  Previsoes  Estrategia de Producao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08  Feature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5394960" cy="5212080"/>
          </a:xfrm>
          <a:prstGeom prst="rect">
            <a:avLst/>
          </a:prstGeom>
          <a:solidFill>
            <a:srgbClr val="E8F4F8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35040" y="1051560"/>
            <a:ext cx="5760720" cy="5212080"/>
          </a:xfrm>
          <a:prstGeom prst="rect">
            <a:avLst/>
          </a:prstGeom>
          <a:solidFill>
            <a:srgbClr val="FFF8E1"/>
          </a:solidFill>
          <a:ln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7293"/>
                </a:solidFill>
                <a:latin typeface="Arial"/>
              </a:defRPr>
            </a:pPr>
            <a:r>
              <a:t>Features Criadas (10 novas)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D1B2A"/>
                </a:solidFill>
                <a:latin typeface="Arial"/>
              </a:defRPr>
            </a:pPr>
            <a:r>
              <a:t>age = 2015 - yr_built</a:t>
            </a:r>
            <a:br/>
            <a:r>
              <a:t>was_renovated (flag binaria)</a:t>
            </a:r>
            <a:br/>
            <a:r>
              <a:t>years_since_reno</a:t>
            </a:r>
            <a:br/>
            <a:r>
              <a:t>sqft_ratio = area / lote</a:t>
            </a:r>
            <a:br/>
            <a:r>
              <a:t>basement_ratio</a:t>
            </a:r>
            <a:br/>
            <a:r>
              <a:t>grade_sqft = grade x area</a:t>
            </a:r>
            <a:br/>
            <a:r>
              <a:t>grade_age = grade x idade</a:t>
            </a:r>
            <a:br/>
            <a:r>
              <a:t>bath_bed_ratio</a:t>
            </a:r>
            <a:br/>
            <a:r>
              <a:t>high_season (mar-jul)</a:t>
            </a:r>
            <a:br/>
            <a:r>
              <a:t>income_grade = renda x grade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5100"/>
                </a:solidFill>
                <a:latin typeface="Arial"/>
              </a:defRPr>
            </a:pPr>
            <a:r>
              <a:t>Por que feature engineering?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D1B2A"/>
                </a:solidFill>
                <a:latin typeface="Arial"/>
              </a:defRPr>
            </a:pPr>
            <a:r>
              <a:t>Modelos capturam padroes lineares facilmente. Interacoes e ratios permitem capturar relacoes nao-lineares que o modelo sozinho teria dificuldade.</a:t>
            </a:r>
            <a:br/>
            <a:br/>
            <a:r>
              <a:t>Exemplo: grade_sqft une qualidade e tamanho. Duas casas com mesmo grade podem ter precos muito diferentes se a area for diferente.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09  Comparacao de Modelos</a:t>
            </a:r>
          </a:p>
        </p:txBody>
      </p:sp>
      <p:pic>
        <p:nvPicPr>
          <p:cNvPr id="4" name="Picture 3" descr="11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34747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406640" y="1005840"/>
            <a:ext cx="4480560" cy="3474720"/>
          </a:xfrm>
          <a:prstGeom prst="rect">
            <a:avLst/>
          </a:prstGeom>
          <a:solidFill>
            <a:srgbClr val="E8F4F8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1430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C7293"/>
                </a:solidFill>
                <a:latin typeface="Arial"/>
              </a:defRPr>
            </a:pPr>
            <a:r>
              <a:t>Metodologia 5-Fold CV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645920"/>
            <a:ext cx="41148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D1B2A"/>
                </a:solidFill>
                <a:latin typeface="Arial"/>
              </a:defRPr>
            </a:pPr>
            <a:r>
              <a:t>4 modelos com 5-Fold CV. Dataset dividido 80/20.</a:t>
            </a:r>
            <a:br/>
            <a:br/>
            <a:r>
              <a:t>Metrica: RMSE no log-price.</a:t>
            </a:r>
            <a:br/>
            <a:br/>
            <a:r>
              <a:t>XGBoost venceu por:</a:t>
            </a:r>
            <a:br/>
            <a:r>
              <a:t>- Menor RMSE medio</a:t>
            </a:r>
            <a:br/>
            <a:r>
              <a:t>- Menor desvio padrao entre folds</a:t>
            </a:r>
          </a:p>
        </p:txBody>
      </p:sp>
      <p:pic>
        <p:nvPicPr>
          <p:cNvPr id="8" name="Picture 7" descr="14_cv_fol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663440"/>
            <a:ext cx="116128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10  XGBoost - Por que este modelo?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3657600" cy="5212080"/>
          </a:xfrm>
          <a:prstGeom prst="rect">
            <a:avLst/>
          </a:prstGeom>
          <a:solidFill>
            <a:srgbClr val="E8F4F8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0" y="1051560"/>
            <a:ext cx="3657600" cy="5212080"/>
          </a:xfrm>
          <a:prstGeom prst="rect">
            <a:avLst/>
          </a:prstGeom>
          <a:solidFill>
            <a:srgbClr val="E8F4F8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1051560"/>
            <a:ext cx="3657600" cy="5212080"/>
          </a:xfrm>
          <a:prstGeom prst="rect">
            <a:avLst/>
          </a:prstGeom>
          <a:solidFill>
            <a:srgbClr val="FFF8E1"/>
          </a:solidFill>
          <a:ln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C7293"/>
                </a:solidFill>
                <a:latin typeface="Arial"/>
              </a:defRPr>
            </a:pPr>
            <a:r>
              <a:t>Vantagens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291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D1B2A"/>
                </a:solidFill>
                <a:latin typeface="Arial"/>
              </a:defRPr>
            </a:pPr>
            <a:r>
              <a:t>Relacoes nao-lineares</a:t>
            </a:r>
            <a:br/>
            <a:br/>
            <a:r>
              <a:t>Regularizacao L1+L2</a:t>
            </a:r>
            <a:br/>
            <a:br/>
            <a:r>
              <a:t>Robusto a outliers</a:t>
            </a:r>
            <a:br/>
            <a:br/>
            <a:r>
              <a:t>Inferencia rapida</a:t>
            </a:r>
            <a:br/>
            <a:br/>
            <a:r>
              <a:t>Nativo para tabulares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1887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C7293"/>
                </a:solidFill>
                <a:latin typeface="Arial"/>
              </a:defRPr>
            </a:pPr>
            <a:r>
              <a:t>Hiperparametros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737360"/>
            <a:ext cx="3291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D1B2A"/>
                </a:solidFill>
                <a:latin typeface="Arial"/>
              </a:defRPr>
            </a:pPr>
            <a:r>
              <a:t>n_estimators: 500</a:t>
            </a:r>
            <a:br/>
            <a:r>
              <a:t>learning_rate: 0.05</a:t>
            </a:r>
            <a:br/>
            <a:r>
              <a:t>max_depth: 6</a:t>
            </a:r>
            <a:br/>
            <a:r>
              <a:t>subsample: 0.8</a:t>
            </a:r>
            <a:br/>
            <a:r>
              <a:t>colsample_bytree: 0.8</a:t>
            </a:r>
            <a:br/>
            <a:r>
              <a:t>reg_alpha: 0.1</a:t>
            </a:r>
            <a:br/>
            <a:r>
              <a:t>reg_lambda: 1.0</a:t>
            </a:r>
            <a:br/>
            <a:r>
              <a:t>Target: log1p(price)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1887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5100"/>
                </a:solidFill>
                <a:latin typeface="Arial"/>
              </a:defRPr>
            </a:pPr>
            <a:r>
              <a:t>Generalizacao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737360"/>
            <a:ext cx="3291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D1B2A"/>
                </a:solidFill>
                <a:latin typeface="Arial"/>
              </a:defRPr>
            </a:pPr>
            <a:r>
              <a:t>1. Train/Test split 80/20</a:t>
            </a:r>
            <a:br/>
            <a:br/>
            <a:r>
              <a:t>2. 5-Fold CV</a:t>
            </a:r>
            <a:br/>
            <a:br/>
            <a:r>
              <a:t>3. Subsampling evita memorizacao</a:t>
            </a:r>
            <a:br/>
            <a:br/>
            <a:r>
              <a:t>4. Regularizacao L1+L2</a:t>
            </a:r>
            <a:br/>
            <a:br/>
            <a:r>
              <a:t>5. Log-transform normaliza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11  Importancia das Features</a:t>
            </a:r>
          </a:p>
        </p:txBody>
      </p:sp>
      <p:pic>
        <p:nvPicPr>
          <p:cNvPr id="4" name="Picture 3" descr="12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5577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406640" y="1005840"/>
            <a:ext cx="4480560" cy="5577840"/>
          </a:xfrm>
          <a:prstGeom prst="rect">
            <a:avLst/>
          </a:prstGeom>
          <a:solidFill>
            <a:srgbClr val="E8F4F8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1430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7293"/>
                </a:solidFill>
                <a:latin typeface="Arial"/>
              </a:defRPr>
            </a:pPr>
            <a:r>
              <a:t>Interpretacao: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645920"/>
            <a:ext cx="4114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0D1B2A"/>
                </a:solidFill>
                <a:latin typeface="Arial"/>
              </a:defRPr>
            </a:pPr>
            <a:r>
              <a:t>lat / long</a:t>
            </a:r>
            <a:br/>
            <a:r>
              <a:t>Localizacao e o preditor mais poderoso.</a:t>
            </a:r>
            <a:br/>
            <a:br/>
            <a:r>
              <a:t>grade_sqft</a:t>
            </a:r>
            <a:br/>
            <a:r>
              <a:t>Interacao criada - qualidade x area explica preco premium.</a:t>
            </a:r>
            <a:br/>
            <a:br/>
            <a:r>
              <a:t>hous_val_amt</a:t>
            </a:r>
            <a:br/>
            <a:r>
              <a:t>Valor medio do bairro = contexto mercadologico.</a:t>
            </a:r>
            <a:br/>
            <a:br/>
            <a:r>
              <a:t>age / yr_built</a:t>
            </a:r>
            <a:br/>
            <a:r>
              <a:t>Imoveis mais novos valem mais.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12  Avaliacao do Modelo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2560320" cy="141732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0" y="1051560"/>
            <a:ext cx="2560320" cy="1417320"/>
          </a:xfrm>
          <a:prstGeom prst="rect">
            <a:avLst/>
          </a:prstGeom>
          <a:solidFill>
            <a:srgbClr val="1C7293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0" y="1051560"/>
            <a:ext cx="2560320" cy="1417320"/>
          </a:xfrm>
          <a:prstGeom prst="rect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0" y="1051560"/>
            <a:ext cx="3017520" cy="1417320"/>
          </a:xfrm>
          <a:prstGeom prst="rect">
            <a:avLst/>
          </a:prstGeom>
          <a:solidFill>
            <a:srgbClr val="E67E22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2560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R2</a:t>
            </a:r>
            <a:br/>
            <a:r>
              <a:t>0.9138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051560"/>
            <a:ext cx="2560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MAE</a:t>
            </a:r>
            <a:br/>
            <a:r>
              <a:t>63.127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051560"/>
            <a:ext cx="2560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RMSE</a:t>
            </a:r>
            <a:br/>
            <a:r>
              <a:t>114.173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051560"/>
            <a:ext cx="30175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MAPE</a:t>
            </a:r>
            <a:br/>
            <a:r>
              <a:t>11.56%</a:t>
            </a:r>
          </a:p>
        </p:txBody>
      </p:sp>
      <p:pic>
        <p:nvPicPr>
          <p:cNvPr id="12" name="Picture 11" descr="13_actual_vs_predi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11612880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13  Metricas de Negocio &amp; Previsoes Finais</a:t>
            </a:r>
          </a:p>
        </p:txBody>
      </p:sp>
      <p:pic>
        <p:nvPicPr>
          <p:cNvPr id="4" name="Picture 3" descr="15_busine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2834640"/>
          </a:xfrm>
          <a:prstGeom prst="rect">
            <a:avLst/>
          </a:prstGeom>
        </p:spPr>
      </p:pic>
      <p:pic>
        <p:nvPicPr>
          <p:cNvPr id="5" name="Picture 4" descr="16_future_predi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977639"/>
            <a:ext cx="1161288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14  Estrategia de Deploy</a:t>
            </a:r>
          </a:p>
        </p:txBody>
      </p:sp>
      <p:pic>
        <p:nvPicPr>
          <p:cNvPr id="4" name="Picture 3" descr="deploy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15  Aprendizado Continuo</a:t>
            </a:r>
          </a:p>
        </p:txBody>
      </p:sp>
      <p:pic>
        <p:nvPicPr>
          <p:cNvPr id="4" name="Picture 3" descr="continuous_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5303520"/>
            <a:ext cx="3657600" cy="1371600"/>
          </a:xfrm>
          <a:prstGeom prst="rect">
            <a:avLst/>
          </a:prstGeom>
          <a:solidFill>
            <a:srgbClr val="1A5276"/>
          </a:solidFill>
          <a:ln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0" y="5303520"/>
            <a:ext cx="3657600" cy="1371600"/>
          </a:xfrm>
          <a:prstGeom prst="rect">
            <a:avLst/>
          </a:prstGeom>
          <a:solidFill>
            <a:srgbClr val="1A5276"/>
          </a:solidFill>
          <a:ln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0" y="5303520"/>
            <a:ext cx="3657600" cy="1371600"/>
          </a:xfrm>
          <a:prstGeom prst="rect">
            <a:avLst/>
          </a:prstGeom>
          <a:solidFill>
            <a:srgbClr val="1A5276"/>
          </a:solidFill>
          <a:ln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30352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Arial"/>
              </a:defRPr>
            </a:pPr>
            <a:r>
              <a:t>Data Drift</a:t>
            </a:r>
            <a:br/>
            <a:r>
              <a:t>KS-test p &lt; 0.05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530352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Arial"/>
              </a:defRPr>
            </a:pPr>
            <a:r>
              <a:t>Degradacao</a:t>
            </a:r>
            <a:br/>
            <a:r>
              <a:t>MAE &gt; threshold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530352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Arial"/>
              </a:defRPr>
            </a:pPr>
            <a:r>
              <a:t>Volume</a:t>
            </a:r>
            <a:br/>
            <a:r>
              <a:t>+500 novos imoveis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16  Comunicacao com Stakeholders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394960" cy="5166360"/>
          </a:xfrm>
          <a:prstGeom prst="rect">
            <a:avLst/>
          </a:prstGeom>
          <a:solidFill>
            <a:srgbClr val="E8F4F8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35040" y="1097280"/>
            <a:ext cx="5852160" cy="5166360"/>
          </a:xfrm>
          <a:prstGeom prst="rect">
            <a:avLst/>
          </a:prstGeom>
          <a:solidFill>
            <a:srgbClr val="FFF8E1"/>
          </a:solidFill>
          <a:ln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C7293"/>
                </a:solidFill>
                <a:latin typeface="Arial"/>
              </a:defRPr>
            </a:pPr>
            <a:r>
              <a:t>Traducao das metricas: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0D1B2A"/>
                </a:solidFill>
                <a:latin typeface="Arial"/>
              </a:defRPr>
            </a:pPr>
            <a:r>
              <a:t>R2 = 0.91</a:t>
            </a:r>
            <a:br/>
            <a:r>
              <a:t>  O modelo explica 91% da variacao</a:t>
            </a:r>
            <a:br/>
            <a:br/>
            <a:r>
              <a:t>MAE = .127</a:t>
            </a:r>
            <a:br/>
            <a:r>
              <a:t>  Em media, erra  na avaliacao</a:t>
            </a:r>
            <a:br/>
            <a:br/>
            <a:r>
              <a:t>MAPE = 11.6%</a:t>
            </a:r>
            <a:br/>
            <a:r>
              <a:t>  Erro de 12% (aceitavel no setor)</a:t>
            </a:r>
            <a:br/>
            <a:br/>
            <a:r>
              <a:t>Erro por faixa:</a:t>
            </a:r>
            <a:br/>
            <a:r>
              <a:t>  Imoveis ate 700k: &lt; 10%</a:t>
            </a:r>
            <a:br/>
            <a:r>
              <a:t>  Imoveis &gt; 1M: ~15-18%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2344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5100"/>
                </a:solidFill>
                <a:latin typeface="Arial"/>
              </a:defRPr>
            </a:pPr>
            <a:r>
              <a:t>Valor para o negocio: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0D1B2A"/>
                </a:solidFill>
                <a:latin typeface="Arial"/>
              </a:defRPr>
            </a:pPr>
            <a:r>
              <a:t>Velocidade</a:t>
            </a:r>
            <a:br/>
            <a:r>
              <a:t>Avaliacao em segundos vs 2-3 dias</a:t>
            </a:r>
            <a:br/>
            <a:br/>
            <a:r>
              <a:t>Consistencia</a:t>
            </a:r>
            <a:br/>
            <a:r>
              <a:t>Elimina variacao subjetiva</a:t>
            </a:r>
            <a:br/>
            <a:br/>
            <a:r>
              <a:t>Escala</a:t>
            </a:r>
            <a:br/>
            <a:r>
              <a:t>Centenas de avaliacoes por minuto</a:t>
            </a:r>
            <a:br/>
            <a:br/>
            <a:r>
              <a:t>Confianca</a:t>
            </a:r>
            <a:br/>
            <a:r>
              <a:t>91% de explicabilidade ao cliente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C7293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rial"/>
              </a:defRPr>
            </a:pPr>
            <a:r>
              <a:t>Conclusao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474720" cy="3200400"/>
          </a:xfrm>
          <a:prstGeom prst="rect">
            <a:avLst/>
          </a:prstGeom>
          <a:solidFill>
            <a:srgbClr val="1C3A52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6240" y="1645920"/>
            <a:ext cx="3474720" cy="3200400"/>
          </a:xfrm>
          <a:prstGeom prst="rect">
            <a:avLst/>
          </a:prstGeom>
          <a:solidFill>
            <a:srgbClr val="1C3A52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55279" y="1645920"/>
            <a:ext cx="3931920" cy="3200400"/>
          </a:xfrm>
          <a:prstGeom prst="rect">
            <a:avLst/>
          </a:prstGeom>
          <a:solidFill>
            <a:srgbClr val="1C3A52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90E0EF"/>
                </a:solidFill>
                <a:latin typeface="Arial"/>
              </a:defRPr>
            </a:pPr>
            <a:r>
              <a:t>Dados Explorados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3474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Arial"/>
              </a:defRPr>
            </a:pPr>
            <a:r>
              <a:t>21.613 imoveis</a:t>
            </a:r>
            <a:br/>
            <a:r>
              <a:t>70 zipcodes</a:t>
            </a:r>
            <a:br/>
            <a:r>
              <a:t>47 features</a:t>
            </a:r>
            <a:br/>
            <a:r>
              <a:t>0 nulos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6459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90E0EF"/>
                </a:solidFill>
                <a:latin typeface="Arial"/>
              </a:defRPr>
            </a:pPr>
            <a:r>
              <a:t>Modelo XGBoost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468880"/>
            <a:ext cx="3474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Arial"/>
              </a:defRPr>
            </a:pPr>
            <a:r>
              <a:t>R2 = 0.9138</a:t>
            </a:r>
            <a:br/>
            <a:r>
              <a:t>MAE = </a:t>
            </a:r>
            <a:br/>
            <a:r>
              <a:t>MAPE = 11.6%</a:t>
            </a:r>
            <a:br/>
            <a:r>
              <a:t>5-Fold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4592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90E0EF"/>
                </a:solidFill>
                <a:latin typeface="Arial"/>
              </a:defRPr>
            </a:pPr>
            <a:r>
              <a:t>Pronto para Producao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2468880"/>
            <a:ext cx="3931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Arial"/>
              </a:defRPr>
            </a:pPr>
            <a:r>
              <a:t>API FastAPI</a:t>
            </a:r>
            <a:br/>
            <a:r>
              <a:t>MLflow Registry</a:t>
            </a:r>
            <a:br/>
            <a:r>
              <a:t>Monitoramento</a:t>
            </a:r>
            <a:br/>
            <a:r>
              <a:t>Retraining auto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github.com/rogerestatistico/HOUSE_PRICE_PREDICTION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DE8F4"/>
                </a:solidFill>
                <a:latin typeface="Arial"/>
              </a:defRPr>
            </a:pPr>
            <a: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