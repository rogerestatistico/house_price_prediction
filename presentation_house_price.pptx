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Previsão de Preços de Imóveis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0E0EF"/>
                </a:solidFill>
                <a:latin typeface="Arial"/>
              </a:defRPr>
            </a:pPr>
            <a:r>
              <a:t>Seattle, WA — Desafio de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DE8F4"/>
                </a:solidFill>
                <a:latin typeface="Arial"/>
              </a:defRPr>
            </a:pPr>
            <a:r>
              <a:t>End-to-End: EDA  →  Feature Engineering  →  XGBoost  → 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321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R² = 0.91   |   MAE = $63.127   |   MAPE = 11.6%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DE8F4"/>
                </a:solidFill>
                <a:latin typeface="Arial"/>
              </a:defRPr>
            </a:pPr>
            <a:r>
              <a:t>21.613 imóveis  ·  70 zipcodes  ·  36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120640"/>
          </a:xfrm>
          <a:prstGeom prst="rect">
            <a:avLst/>
          </a:prstGeom>
          <a:solidFill>
            <a:srgbClr val="E8F4F8"/>
          </a:solidFill>
          <a:ln>
            <a:solidFill>
              <a:srgbClr val="BD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303520" cy="5120640"/>
          </a:xfrm>
          <a:prstGeom prst="rect">
            <a:avLst/>
          </a:prstGeom>
          <a:solidFill>
            <a:srgbClr val="E8F4F8"/>
          </a:solidFill>
          <a:ln>
            <a:solidFill>
              <a:srgbClr val="BD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7293"/>
                </a:solidFill>
                <a:latin typeface="Arial"/>
              </a:defRPr>
            </a:pPr>
            <a:r>
              <a:t>PARTE 1 — DADOS &amp; 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1B2A"/>
                </a:solidFill>
                <a:latin typeface="Arial"/>
              </a:defRPr>
            </a:pPr>
            <a:r>
              <a:t>01  Entendimento dos Dados</a:t>
            </a:r>
            <a:br/>
            <a:r>
              <a:t>02  Distribuição de Preços</a:t>
            </a:r>
            <a:br/>
            <a:r>
              <a:t>03  Correlações &amp; Heatmap</a:t>
            </a:r>
            <a:br/>
            <a:r>
              <a:t>04  Área, Grade e Outliers</a:t>
            </a:r>
            <a:br/>
            <a:r>
              <a:t>05  Localização &amp; Zipcode</a:t>
            </a:r>
            <a:br/>
            <a:r>
              <a:t>06  Dados Demográficos</a:t>
            </a:r>
            <a:br/>
            <a:r>
              <a:t>07  Sazonalidade Temporal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7293"/>
                </a:solidFill>
                <a:latin typeface="Arial"/>
              </a:defRPr>
            </a:pPr>
            <a:r>
              <a:t>PARTE 2 — MODELO &amp;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1B2A"/>
                </a:solidFill>
                <a:latin typeface="Arial"/>
              </a:defRPr>
            </a:pPr>
            <a:r>
              <a:t>08  Feature Engineering</a:t>
            </a:r>
            <a:br/>
            <a:r>
              <a:t>09  Comparação de Modelos</a:t>
            </a:r>
            <a:br/>
            <a:r>
              <a:t>10  XGBoost — Escolha</a:t>
            </a:r>
            <a:br/>
            <a:r>
              <a:t>11  Importância das Features</a:t>
            </a:r>
            <a:br/>
            <a:r>
              <a:t>12  Avaliação &amp; Resíduos</a:t>
            </a:r>
            <a:br/>
            <a:r>
              <a:t>13  Previsões Finais</a:t>
            </a:r>
            <a:br/>
            <a:r>
              <a:t>14  Deploy &amp; Aprendizado Contínuo</a:t>
            </a:r>
            <a:br/>
            <a:r>
              <a:t>15  Comunicação com Negócio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01  Entendimento dos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474720" cy="5212080"/>
          </a:xfrm>
          <a:prstGeom prst="rect">
            <a:avLst/>
          </a:prstGeom>
          <a:solidFill>
            <a:srgbClr val="DAEEF7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097280"/>
            <a:ext cx="3474720" cy="5212080"/>
          </a:xfrm>
          <a:prstGeom prst="rect">
            <a:avLst/>
          </a:prstGeom>
          <a:solidFill>
            <a:srgbClr val="DAEEF7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0" y="1097280"/>
            <a:ext cx="3931920" cy="5212080"/>
          </a:xfrm>
          <a:prstGeom prst="rect">
            <a:avLst/>
          </a:prstGeom>
          <a:solidFill>
            <a:srgbClr val="FFF8E1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293"/>
                </a:solidFill>
                <a:latin typeface="Arial"/>
              </a:defRPr>
            </a:pPr>
            <a:r>
              <a:t>kc_house_data.csv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Arial"/>
              </a:defRPr>
            </a:pPr>
            <a:r>
              <a:t>21.613 imóveis</a:t>
            </a:r>
            <a:br/>
            <a:r>
              <a:t>21 variáveis</a:t>
            </a:r>
            <a:br/>
            <a:br/>
            <a:r>
              <a:t>• Preço (target)</a:t>
            </a:r>
            <a:br/>
            <a:r>
              <a:t>• Área: sqft_living,</a:t>
            </a:r>
            <a:br/>
            <a:r>
              <a:t>  sqft_lot, sqft_above</a:t>
            </a:r>
            <a:br/>
            <a:r>
              <a:t>• Estruturais: quartos,</a:t>
            </a:r>
            <a:br/>
            <a:r>
              <a:t>  banheiros, andares</a:t>
            </a:r>
            <a:br/>
            <a:r>
              <a:t>• grade, condition</a:t>
            </a:r>
            <a:br/>
            <a:r>
              <a:t>• waterfront, view</a:t>
            </a:r>
            <a:br/>
            <a:r>
              <a:t>• lat, long, zipcode</a:t>
            </a:r>
            <a:br/>
            <a:r>
              <a:t>• yr_built, yr_renovated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293"/>
                </a:solidFill>
                <a:latin typeface="Arial"/>
              </a:defRPr>
            </a:pPr>
            <a:r>
              <a:t>zipcode_demographics.csv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7830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Arial"/>
              </a:defRPr>
            </a:pPr>
            <a:r>
              <a:t>70 zipcodes</a:t>
            </a:r>
            <a:br/>
            <a:r>
              <a:t>27 variáveis</a:t>
            </a:r>
            <a:br/>
            <a:br/>
            <a:r>
              <a:t>• Renda mediana</a:t>
            </a:r>
            <a:br/>
            <a:r>
              <a:t>• Valor mediano imóveis</a:t>
            </a:r>
            <a:br/>
            <a:r>
              <a:t>• % população urbana</a:t>
            </a:r>
            <a:br/>
            <a:r>
              <a:t>• Nível educacional</a:t>
            </a:r>
            <a:br/>
            <a:r>
              <a:t>  (% graduados)</a:t>
            </a:r>
            <a:br/>
            <a:r>
              <a:t>• População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234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Arial"/>
              </a:defRPr>
            </a:pPr>
            <a:r>
              <a:t>Qualidade dos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D1B2A"/>
                </a:solidFill>
                <a:latin typeface="Arial"/>
              </a:defRPr>
            </a:pPr>
            <a:r>
              <a:t>✔  0 valores nulos</a:t>
            </a:r>
            <a:br/>
            <a:r>
              <a:t>✔  2 duplicatas removidas</a:t>
            </a:r>
            <a:br/>
            <a:r>
              <a:t>✔  Merge por zipcode</a:t>
            </a:r>
            <a:br/>
            <a:r>
              <a:t>    sem perda de registros</a:t>
            </a:r>
            <a:br/>
            <a:br/>
            <a:r>
              <a:t>Dataset final:</a:t>
            </a:r>
            <a:br/>
            <a:r>
              <a:t>21.613 imóveis</a:t>
            </a:r>
            <a:br/>
            <a:r>
              <a:t>47 colunas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02  Distribuição de Preços</a:t>
            </a:r>
          </a:p>
        </p:txBody>
      </p:sp>
      <p:pic>
        <p:nvPicPr>
          <p:cNvPr id="4" name="Picture 3" descr="01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03  Correlações com o Preço</a:t>
            </a:r>
          </a:p>
        </p:txBody>
      </p:sp>
      <p:pic>
        <p:nvPicPr>
          <p:cNvPr id="4" name="Picture 3" descr="02_correlation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5577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92240" y="1005840"/>
            <a:ext cx="5303520" cy="5577840"/>
          </a:xfrm>
          <a:prstGeom prst="rect">
            <a:avLst/>
          </a:prstGeom>
          <a:solidFill>
            <a:srgbClr val="E8F4F8"/>
          </a:solidFill>
          <a:ln>
            <a:solidFill>
              <a:srgbClr val="BD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143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7293"/>
                </a:solidFill>
                <a:latin typeface="Arial"/>
              </a:defRPr>
            </a:pPr>
            <a:r>
              <a:t>Principais correlações: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D1B2A"/>
                </a:solidFill>
                <a:latin typeface="Arial"/>
              </a:defRPr>
            </a:pPr>
            <a:r>
              <a:t>sqft_living → 0.70</a:t>
            </a:r>
            <a:br/>
            <a:r>
              <a:t>grade → 0.67</a:t>
            </a:r>
            <a:br/>
            <a:r>
              <a:t>sqft_above → 0.60</a:t>
            </a:r>
            <a:br/>
            <a:r>
              <a:t>hous_val_amt → 0.63</a:t>
            </a:r>
            <a:br/>
            <a:r>
              <a:t>renda mediana → 0.48</a:t>
            </a:r>
            <a:br/>
            <a:r>
              <a:t>bathrooms → 0.53</a:t>
            </a:r>
            <a:br/>
            <a:r>
              <a:t>waterfront → 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293"/>
                </a:solidFill>
                <a:latin typeface="Arial"/>
              </a:defRPr>
            </a:pPr>
            <a:r>
              <a:t>Insight chave: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Arial"/>
              </a:defRPr>
            </a:pPr>
            <a:r>
              <a:t>Características físicas (área, qualidade) e contexto socioeconômico do bairro (renda, valor médio) são os maiores preditores de preço.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04  Heatmap de Correlação</a:t>
            </a:r>
          </a:p>
        </p:txBody>
      </p:sp>
      <p:pic>
        <p:nvPicPr>
          <p:cNvPr id="4" name="Picture 3" descr="0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05  Área Interna, Grade e Outliers</a:t>
            </a:r>
          </a:p>
        </p:txBody>
      </p:sp>
      <p:pic>
        <p:nvPicPr>
          <p:cNvPr id="4" name="Picture 3" descr="04_scatter_key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2834640"/>
          </a:xfrm>
          <a:prstGeom prst="rect">
            <a:avLst/>
          </a:prstGeom>
        </p:spPr>
      </p:pic>
      <p:pic>
        <p:nvPicPr>
          <p:cNvPr id="5" name="Picture 4" descr="06_boxplot_gr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31920"/>
            <a:ext cx="116128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06  Waterfront, Vista e Localização</a:t>
            </a:r>
          </a:p>
        </p:txBody>
      </p:sp>
      <p:pic>
        <p:nvPicPr>
          <p:cNvPr id="4" name="Picture 3" descr="05_waterfron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3017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1005840"/>
            <a:ext cx="3931920" cy="3017520"/>
          </a:xfrm>
          <a:prstGeom prst="rect">
            <a:avLst/>
          </a:prstGeom>
          <a:solidFill>
            <a:srgbClr val="FFF3E0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1430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100"/>
                </a:solidFill>
                <a:latin typeface="Arial"/>
              </a:defRPr>
            </a:pPr>
            <a:r>
              <a:t>Impacto no preço: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Arial"/>
              </a:defRPr>
            </a:pPr>
            <a:r>
              <a:t>Waterfront:</a:t>
            </a:r>
            <a:br/>
            <a:r>
              <a:t>  + 200% na mediana</a:t>
            </a:r>
            <a:br/>
            <a:br/>
            <a:r>
              <a:t>Vista score 4:</a:t>
            </a:r>
            <a:br/>
            <a:r>
              <a:t>  + 120% vs score 0</a:t>
            </a:r>
            <a:br/>
            <a:br/>
            <a:r>
              <a:t>Conclusion:</a:t>
            </a:r>
            <a:br/>
            <a:r>
              <a:t>Localização é um</a:t>
            </a:r>
            <a:br/>
            <a:r>
              <a:t>dos maiores vetores</a:t>
            </a:r>
            <a:br/>
            <a:r>
              <a:t>de valorização.</a:t>
            </a:r>
          </a:p>
        </p:txBody>
      </p:sp>
      <p:pic>
        <p:nvPicPr>
          <p:cNvPr id="8" name="Picture 7" descr="07_price_by_zip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60520"/>
            <a:ext cx="1161288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07  Dados Demográficos &amp; Sazonalidade</a:t>
            </a:r>
          </a:p>
        </p:txBody>
      </p:sp>
      <p:pic>
        <p:nvPicPr>
          <p:cNvPr id="4" name="Picture 3" descr="08_income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760720" cy="3017520"/>
          </a:xfrm>
          <a:prstGeom prst="rect">
            <a:avLst/>
          </a:prstGeom>
        </p:spPr>
      </p:pic>
      <p:pic>
        <p:nvPicPr>
          <p:cNvPr id="5" name="Picture 4" descr="10_education_vs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3017520"/>
          </a:xfrm>
          <a:prstGeom prst="rect">
            <a:avLst/>
          </a:prstGeom>
        </p:spPr>
      </p:pic>
      <p:pic>
        <p:nvPicPr>
          <p:cNvPr id="6" name="Picture 5" descr="09_price_over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160520"/>
            <a:ext cx="1161288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E0EF"/>
                </a:solidFill>
                <a:latin typeface="Arial"/>
              </a:defRPr>
            </a:pPr>
            <a: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Modelagem &amp;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E8F4"/>
                </a:solidFill>
                <a:latin typeface="Arial"/>
              </a:defRPr>
            </a:pPr>
            <a:r>
              <a:t>Feature Engineering  ·  XGBoost  ·  Avaliação  ·  Previsões  ·  Estratégia de Produção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08 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394960" cy="5212080"/>
          </a:xfrm>
          <a:prstGeom prst="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051560"/>
            <a:ext cx="5760720" cy="5212080"/>
          </a:xfrm>
          <a:prstGeom prst="rect">
            <a:avLst/>
          </a:prstGeom>
          <a:solidFill>
            <a:srgbClr val="FFF8E1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7293"/>
                </a:solidFill>
                <a:latin typeface="Arial"/>
              </a:defRPr>
            </a:pPr>
            <a:r>
              <a:t>Features Criadas (10 novas)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D1B2A"/>
                </a:solidFill>
                <a:latin typeface="Arial"/>
              </a:defRPr>
            </a:pPr>
            <a:r>
              <a:t>age = 2015 - yr_built</a:t>
            </a:r>
            <a:br/>
            <a:r>
              <a:t>was_renovated  (flag binária)</a:t>
            </a:r>
            <a:br/>
            <a:r>
              <a:t>years_since_reno</a:t>
            </a:r>
            <a:br/>
            <a:r>
              <a:t>sqft_ratio = área / lote</a:t>
            </a:r>
            <a:br/>
            <a:r>
              <a:t>basement_ratio</a:t>
            </a:r>
            <a:br/>
            <a:r>
              <a:t>grade_sqft = grade × área</a:t>
            </a:r>
            <a:br/>
            <a:r>
              <a:t>grade_age = grade × idade</a:t>
            </a:r>
            <a:br/>
            <a:r>
              <a:t>bath_bed_ratio</a:t>
            </a:r>
            <a:br/>
            <a:r>
              <a:t>high_season  (mar–jul)</a:t>
            </a:r>
            <a:br/>
            <a:r>
              <a:t>income_grade = renda × 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100"/>
                </a:solidFill>
                <a:latin typeface="Arial"/>
              </a:defRPr>
            </a:pPr>
            <a:r>
              <a:t>Por que feature engineering?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D1B2A"/>
                </a:solidFill>
                <a:latin typeface="Arial"/>
              </a:defRPr>
            </a:pPr>
            <a:r>
              <a:t>Modelos capturam padrões</a:t>
            </a:r>
            <a:br/>
            <a:r>
              <a:t>lineares com facilidade.</a:t>
            </a:r>
            <a:br/>
            <a:r>
              <a:t>Interações e ratios permitem</a:t>
            </a:r>
            <a:br/>
            <a:r>
              <a:t>capturar relações não-lineares</a:t>
            </a:r>
            <a:br/>
            <a:r>
              <a:t>que o modelo sozinho teria</a:t>
            </a:r>
            <a:br/>
            <a:r>
              <a:t>dificuldade de aprender.</a:t>
            </a:r>
            <a:br/>
            <a:br/>
            <a:r>
              <a:t>Exemplo: grade_sqft une</a:t>
            </a:r>
            <a:br/>
            <a:r>
              <a:t>qualidade e tamanho —</a:t>
            </a:r>
            <a:br/>
            <a:r>
              <a:t>duas casas com mesmo</a:t>
            </a:r>
            <a:br/>
            <a:r>
              <a:t>grade podem ter preços</a:t>
            </a:r>
            <a:br/>
            <a:r>
              <a:t>muito diferentes se a área</a:t>
            </a:r>
            <a:br/>
            <a:r>
              <a:t>for diferente.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09  Comparação de Modelos</a:t>
            </a:r>
          </a:p>
        </p:txBody>
      </p:sp>
      <p:pic>
        <p:nvPicPr>
          <p:cNvPr id="4" name="Picture 3" descr="1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3474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06640" y="1005840"/>
            <a:ext cx="4480560" cy="3474720"/>
          </a:xfrm>
          <a:prstGeom prst="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143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293"/>
                </a:solidFill>
                <a:latin typeface="Arial"/>
              </a:defRPr>
            </a:pPr>
            <a:r>
              <a:t>Metodologia — 5-Fold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645920"/>
            <a:ext cx="4114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Arial"/>
              </a:defRPr>
            </a:pPr>
            <a:r>
              <a:t>Avaliamos 4 modelos com</a:t>
            </a:r>
            <a:br/>
            <a:r>
              <a:t>5-Fold Cross-Validation.</a:t>
            </a:r>
            <a:br/>
            <a:r>
              <a:t>O dataset foi dividido em</a:t>
            </a:r>
            <a:br/>
            <a:r>
              <a:t>80% treino / 20% teste.</a:t>
            </a:r>
            <a:br/>
            <a:br/>
            <a:r>
              <a:t>Métrica: RMSE no target</a:t>
            </a:r>
            <a:br/>
            <a:r>
              <a:t>em escala log — reduz</a:t>
            </a:r>
            <a:br/>
            <a:r>
              <a:t>impacto dos outliers.</a:t>
            </a:r>
            <a:br/>
            <a:br/>
            <a:r>
              <a:t>XGBoost venceu por:</a:t>
            </a:r>
            <a:br/>
            <a:r>
              <a:t>• Menor RMSE médio</a:t>
            </a:r>
            <a:br/>
            <a:r>
              <a:t>• Menor desvio padrão</a:t>
            </a:r>
            <a:br/>
            <a:r>
              <a:t>  entre folds (+ estável)</a:t>
            </a:r>
          </a:p>
        </p:txBody>
      </p:sp>
      <p:pic>
        <p:nvPicPr>
          <p:cNvPr id="8" name="Picture 7" descr="14_cv_fo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63440"/>
            <a:ext cx="116128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10  XGBoost — Por que este modelo?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3657600" cy="5212080"/>
          </a:xfrm>
          <a:prstGeom prst="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1051560"/>
            <a:ext cx="3657600" cy="5212080"/>
          </a:xfrm>
          <a:prstGeom prst="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1051560"/>
            <a:ext cx="3657600" cy="5212080"/>
          </a:xfrm>
          <a:prstGeom prst="rect">
            <a:avLst/>
          </a:prstGeom>
          <a:solidFill>
            <a:srgbClr val="FFF8E1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293"/>
                </a:solidFill>
                <a:latin typeface="Arial"/>
              </a:defRPr>
            </a:pPr>
            <a:r>
              <a:t>Vantagens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Arial"/>
              </a:defRPr>
            </a:pPr>
            <a:r>
              <a:t>Captura relações</a:t>
            </a:r>
            <a:br/>
            <a:r>
              <a:t>não-lineares</a:t>
            </a:r>
            <a:br/>
            <a:br/>
            <a:r>
              <a:t>Regularização L1+L2</a:t>
            </a:r>
            <a:br/>
            <a:r>
              <a:t>embutida</a:t>
            </a:r>
            <a:br/>
            <a:br/>
            <a:r>
              <a:t>Robusta a outliers</a:t>
            </a:r>
            <a:br/>
            <a:br/>
            <a:r>
              <a:t>Rápida inferência</a:t>
            </a:r>
            <a:br/>
            <a:r>
              <a:t>(&lt; 5ms / predição)</a:t>
            </a:r>
            <a:br/>
            <a:br/>
            <a:r>
              <a:t>Nativa para dados</a:t>
            </a:r>
            <a:br/>
            <a:r>
              <a:t>tabulares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293"/>
                </a:solidFill>
                <a:latin typeface="Arial"/>
              </a:defRPr>
            </a:pPr>
            <a:r>
              <a:t>Hiperparâmetros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Arial"/>
              </a:defRPr>
            </a:pPr>
            <a:r>
              <a:t>n_estimators: 500</a:t>
            </a:r>
            <a:br/>
            <a:r>
              <a:t>learning_rate: 0.05</a:t>
            </a:r>
            <a:br/>
            <a:r>
              <a:t>max_depth: 6</a:t>
            </a:r>
            <a:br/>
            <a:r>
              <a:t>subsample: 0.8</a:t>
            </a:r>
            <a:br/>
            <a:r>
              <a:t>colsample_bytree: 0.8</a:t>
            </a:r>
            <a:br/>
            <a:r>
              <a:t>reg_alpha: 0.1</a:t>
            </a:r>
            <a:br/>
            <a:r>
              <a:t>reg_lambda: 1.0</a:t>
            </a:r>
            <a:br/>
            <a:br/>
            <a:r>
              <a:t>Target: log1p(price)</a:t>
            </a:r>
            <a:br/>
            <a:r>
              <a:t>— estabiliza variância</a:t>
            </a:r>
            <a:br/>
            <a:r>
              <a:t>e reduz assimetria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Arial"/>
              </a:defRPr>
            </a:pPr>
            <a:r>
              <a:t>Generalização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1B2A"/>
                </a:solidFill>
                <a:latin typeface="Arial"/>
              </a:defRPr>
            </a:pPr>
            <a:r>
              <a:t>1. Train/Test split 80/20</a:t>
            </a:r>
            <a:br/>
            <a:br/>
            <a:r>
              <a:t>2. 5-Fold CV — dados</a:t>
            </a:r>
            <a:br/>
            <a:r>
              <a:t>   de teste nunca vistos</a:t>
            </a:r>
            <a:br/>
            <a:r>
              <a:t>   no treino</a:t>
            </a:r>
            <a:br/>
            <a:br/>
            <a:r>
              <a:t>3. Subsampling evita</a:t>
            </a:r>
            <a:br/>
            <a:r>
              <a:t>   memorização</a:t>
            </a:r>
            <a:br/>
            <a:br/>
            <a:r>
              <a:t>4. Regularização L1+L2</a:t>
            </a:r>
            <a:br/>
            <a:r>
              <a:t>   penaliza complexidade</a:t>
            </a:r>
            <a:br/>
            <a:br/>
            <a:r>
              <a:t>5. Log-transform do</a:t>
            </a:r>
            <a:br/>
            <a:r>
              <a:t>   target normaliza</a:t>
            </a:r>
            <a:br/>
            <a:r>
              <a:t>   a distribuição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11  Importância das Features</a:t>
            </a:r>
          </a:p>
        </p:txBody>
      </p:sp>
      <p:pic>
        <p:nvPicPr>
          <p:cNvPr id="4" name="Picture 3" descr="1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5577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06640" y="1005840"/>
            <a:ext cx="4480560" cy="5577840"/>
          </a:xfrm>
          <a:prstGeom prst="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143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7293"/>
                </a:solidFill>
                <a:latin typeface="Arial"/>
              </a:defRPr>
            </a:pPr>
            <a:r>
              <a:t>Interpretação: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6459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0D1B2A"/>
                </a:solidFill>
                <a:latin typeface="Arial"/>
              </a:defRPr>
            </a:pPr>
            <a:r>
              <a:t>lat / long</a:t>
            </a:r>
            <a:br/>
            <a:r>
              <a:t>Localização é o preditor</a:t>
            </a:r>
            <a:br/>
            <a:r>
              <a:t>mais poderoso.</a:t>
            </a:r>
            <a:br/>
            <a:br/>
            <a:r>
              <a:t>grade_sqft</a:t>
            </a:r>
            <a:br/>
            <a:r>
              <a:t>Interação criada confirma</a:t>
            </a:r>
            <a:br/>
            <a:r>
              <a:t>que qualidade × área</a:t>
            </a:r>
            <a:br/>
            <a:r>
              <a:t>explica preço premium.</a:t>
            </a:r>
            <a:br/>
            <a:br/>
            <a:r>
              <a:t>hous_val_amt</a:t>
            </a:r>
            <a:br/>
            <a:r>
              <a:t>Valor médio do bairro</a:t>
            </a:r>
            <a:br/>
            <a:r>
              <a:t>(demográfico) = contexto</a:t>
            </a:r>
            <a:br/>
            <a:r>
              <a:t>mercadológico essencial.</a:t>
            </a:r>
            <a:br/>
            <a:br/>
            <a:r>
              <a:t>age / yr_built</a:t>
            </a:r>
            <a:br/>
            <a:r>
              <a:t>Imóveis mais novos</a:t>
            </a:r>
            <a:br/>
            <a:r>
              <a:t>valem consistentemente</a:t>
            </a:r>
            <a:br/>
            <a:r>
              <a:t>mais no dataset.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12  Avaliação do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560320" cy="14173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051560"/>
            <a:ext cx="2560320" cy="141732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051560"/>
            <a:ext cx="2560320" cy="141732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051560"/>
            <a:ext cx="3017520" cy="141732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R²</a:t>
            </a:r>
            <a:br/>
            <a:r>
              <a:t>0.9138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5156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MAE</a:t>
            </a:r>
            <a:br/>
            <a:r>
              <a:t>$63.127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05156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RMSE</a:t>
            </a:r>
            <a:br/>
            <a:r>
              <a:t>$114.173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051560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MAPE</a:t>
            </a:r>
            <a:br/>
            <a:r>
              <a:t>11.56%</a:t>
            </a:r>
          </a:p>
        </p:txBody>
      </p:sp>
      <p:pic>
        <p:nvPicPr>
          <p:cNvPr id="12" name="Picture 11" descr="13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1161288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13  Métricas de Negócio &amp; Previsões Finais</a:t>
            </a:r>
          </a:p>
        </p:txBody>
      </p:sp>
      <p:pic>
        <p:nvPicPr>
          <p:cNvPr id="4" name="Picture 3" descr="15_busine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2834640"/>
          </a:xfrm>
          <a:prstGeom prst="rect">
            <a:avLst/>
          </a:prstGeom>
        </p:spPr>
      </p:pic>
      <p:pic>
        <p:nvPicPr>
          <p:cNvPr id="5" name="Picture 4" descr="16_future_predi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77639"/>
            <a:ext cx="116128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14  Estratégia de Deploy</a:t>
            </a:r>
          </a:p>
        </p:txBody>
      </p:sp>
      <p:pic>
        <p:nvPicPr>
          <p:cNvPr id="4" name="Picture 3" descr="deplo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15  Aprendizado Contínuo</a:t>
            </a:r>
          </a:p>
        </p:txBody>
      </p:sp>
      <p:pic>
        <p:nvPicPr>
          <p:cNvPr id="4" name="Picture 3" descr="continuous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5303520"/>
            <a:ext cx="3657600" cy="13716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5303520"/>
            <a:ext cx="3657600" cy="13716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5303520"/>
            <a:ext cx="3657600" cy="13716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303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Data Drift</a:t>
            </a:r>
            <a:br/>
            <a:r>
              <a:t>KS-test p &lt; 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5303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Degradação</a:t>
            </a:r>
            <a:br/>
            <a:r>
              <a:t>MAE &gt;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303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Volume</a:t>
            </a:r>
            <a:br/>
            <a:r>
              <a:t>+ 500 novos imóveis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16  Comunicação com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5166360"/>
          </a:xfrm>
          <a:prstGeom prst="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097280"/>
            <a:ext cx="5852160" cy="5166360"/>
          </a:xfrm>
          <a:prstGeom prst="rect">
            <a:avLst/>
          </a:prstGeom>
          <a:solidFill>
            <a:srgbClr val="FFF8E1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7293"/>
                </a:solidFill>
                <a:latin typeface="Arial"/>
              </a:defRPr>
            </a:pPr>
            <a:r>
              <a:t>Tradução das métricas: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D1B2A"/>
                </a:solidFill>
                <a:latin typeface="Arial"/>
              </a:defRPr>
            </a:pPr>
            <a:r>
              <a:t>R² = 0.91</a:t>
            </a:r>
            <a:br/>
            <a:r>
              <a:t>→ O modelo explica 91% da</a:t>
            </a:r>
            <a:br/>
            <a:r>
              <a:t>   variação dos preços</a:t>
            </a:r>
            <a:br/>
            <a:br/>
            <a:r>
              <a:t>MAE = $63.127</a:t>
            </a:r>
            <a:br/>
            <a:r>
              <a:t>→ Em média, erra $63k</a:t>
            </a:r>
            <a:br/>
            <a:r>
              <a:t>   na avaliação</a:t>
            </a:r>
            <a:br/>
            <a:br/>
            <a:r>
              <a:t>MAPE = 11.6%</a:t>
            </a:r>
            <a:br/>
            <a:r>
              <a:t>→ Erro percentual de ~12%</a:t>
            </a:r>
            <a:br/>
            <a:r>
              <a:t>   (aceitável para o setor)</a:t>
            </a:r>
            <a:br/>
            <a:br/>
            <a:r>
              <a:t>ERRO por faixa:</a:t>
            </a:r>
            <a:br/>
            <a:r>
              <a:t>→ Imóveis até 700k: &lt; 10%</a:t>
            </a:r>
            <a:br/>
            <a:r>
              <a:t>→ Imóveis &gt; 1M: ~15-18%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100"/>
                </a:solidFill>
                <a:latin typeface="Arial"/>
              </a:defRPr>
            </a:pPr>
            <a:r>
              <a:t>Valor para o negócio: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D1B2A"/>
                </a:solidFill>
                <a:latin typeface="Arial"/>
              </a:defRPr>
            </a:pPr>
            <a:r>
              <a:t>Velocidade</a:t>
            </a:r>
            <a:br/>
            <a:r>
              <a:t>Avaliação em segundos</a:t>
            </a:r>
            <a:br/>
            <a:r>
              <a:t>vs. 2–3 dias com corretor</a:t>
            </a:r>
            <a:br/>
            <a:br/>
            <a:r>
              <a:t>Consistência</a:t>
            </a:r>
            <a:br/>
            <a:r>
              <a:t>Elimina variação subjetiva</a:t>
            </a:r>
            <a:br/>
            <a:r>
              <a:t>entre avaliadores</a:t>
            </a:r>
            <a:br/>
            <a:br/>
            <a:r>
              <a:t>Escala</a:t>
            </a:r>
            <a:br/>
            <a:r>
              <a:t>Centenas de avaliações</a:t>
            </a:r>
            <a:br/>
            <a:r>
              <a:t>por minuto via API</a:t>
            </a:r>
            <a:br/>
            <a:br/>
            <a:r>
              <a:t>Confiança</a:t>
            </a:r>
            <a:br/>
            <a:r>
              <a:t>91% de explicabilidade</a:t>
            </a:r>
            <a:br/>
            <a:r>
              <a:t>transmite credibilidade</a:t>
            </a:r>
            <a:br/>
            <a:r>
              <a:t>ao cliente e à equipe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3200400"/>
          </a:xfrm>
          <a:prstGeom prst="rect">
            <a:avLst/>
          </a:prstGeom>
          <a:solidFill>
            <a:srgbClr val="1C3A5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3474720" cy="3200400"/>
          </a:xfrm>
          <a:prstGeom prst="rect">
            <a:avLst/>
          </a:prstGeom>
          <a:solidFill>
            <a:srgbClr val="1C3A5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645920"/>
            <a:ext cx="3931920" cy="3200400"/>
          </a:xfrm>
          <a:prstGeom prst="rect">
            <a:avLst/>
          </a:prstGeom>
          <a:solidFill>
            <a:srgbClr val="1C3A5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0E0EF"/>
                </a:solidFill>
                <a:latin typeface="Arial"/>
              </a:defRPr>
            </a:pPr>
            <a:r>
              <a:t>Dados</a:t>
            </a:r>
            <a:br/>
            <a:r>
              <a:t>Explorados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21.613 imóveis</a:t>
            </a:r>
            <a:br/>
            <a:r>
              <a:t>70 zipcodes</a:t>
            </a:r>
            <a:br/>
            <a:r>
              <a:t>47 features</a:t>
            </a:r>
            <a:br/>
            <a:r>
              <a:t>0 nulos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0E0EF"/>
                </a:solidFill>
                <a:latin typeface="Arial"/>
              </a:defRPr>
            </a:pPr>
            <a:r>
              <a:t>Modelo</a:t>
            </a:r>
            <a:br/>
            <a:r>
              <a:t>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R² = 0.9138</a:t>
            </a:r>
            <a:br/>
            <a:r>
              <a:t>MAE = $63k</a:t>
            </a:r>
            <a:br/>
            <a:r>
              <a:t>MAPE = 11.6%</a:t>
            </a:r>
            <a:br/>
            <a:r>
              <a:t>5-Fold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6459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0E0EF"/>
                </a:solidFill>
                <a:latin typeface="Arial"/>
              </a:defRPr>
            </a:pPr>
            <a:r>
              <a:t>Pronto para</a:t>
            </a:r>
            <a:br/>
            <a:r>
              <a:t>Produção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4688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API FastAPI</a:t>
            </a:r>
            <a:br/>
            <a:r>
              <a:t>MLflow Registry</a:t>
            </a:r>
            <a:br/>
            <a:r>
              <a:t>Monitoramento</a:t>
            </a:r>
            <a:br/>
            <a:r>
              <a:t>Retraining auto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github.com/rogerestatistico/HOUSE_PRICE_PREDICTION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E8F4"/>
                </a:solidFill>
                <a:latin typeface="Arial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